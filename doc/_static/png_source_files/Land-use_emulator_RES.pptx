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4"/>
    <p:sldMasterId id="2147483677" r:id="rId5"/>
  </p:sldMasterIdLst>
  <p:notesMasterIdLst>
    <p:notesMasterId r:id="rId7"/>
  </p:notesMasterIdLst>
  <p:handoutMasterIdLst>
    <p:handoutMasterId r:id="rId8"/>
  </p:handoutMasterIdLst>
  <p:sldIdLst>
    <p:sldId id="274" r:id="rId6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84D2E67-7402-42F3-9F32-C8370D9C0E6D}">
          <p14:sldIdLst/>
        </p14:section>
        <p14:section name="Untitled Section" id="{B0E2A3F2-3051-4578-9CF2-FAC07A1286BD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89E"/>
    <a:srgbClr val="336600"/>
    <a:srgbClr val="2854A3"/>
    <a:srgbClr val="D4F991"/>
    <a:srgbClr val="FFFFFF"/>
    <a:srgbClr val="FEE4B3"/>
    <a:srgbClr val="0057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2" autoAdjust="0"/>
    <p:restoredTop sz="90987" autoAdjust="0"/>
  </p:normalViewPr>
  <p:slideViewPr>
    <p:cSldViewPr snapToGrid="0">
      <p:cViewPr varScale="1">
        <p:scale>
          <a:sx n="94" d="100"/>
          <a:sy n="94" d="100"/>
        </p:scale>
        <p:origin x="12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8CE3CE-7885-5440-B7D2-D1C38EEABC2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EAEB30-D659-F04F-8BCA-7E5755820E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860766-B385-064C-89E0-D696CB68EF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4C23E2-02F7-644F-99F5-08AC3BA5E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674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AC332E-8893-FE4E-9A25-93BB30EFA0DA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7A1DD-B70C-B048-99CA-ED8542287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07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7A1DD-B70C-B048-99CA-ED85422872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773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mailto:huppmann@iiasa.ac.at" TargetMode="External"/><Relationship Id="rId3" Type="http://schemas.openxmlformats.org/officeDocument/2006/relationships/hyperlink" Target="https://www.iiasa.ac.at/staff/huppmann" TargetMode="External"/><Relationship Id="rId4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mailto:huppmann@iiasa.ac.at" TargetMode="External"/><Relationship Id="rId3" Type="http://schemas.openxmlformats.org/officeDocument/2006/relationships/hyperlink" Target="https://www.iiasa.ac.at/staff/huppmann" TargetMode="External"/><Relationship Id="rId4" Type="http://schemas.openxmlformats.org/officeDocument/2006/relationships/image" Target="../media/image5.png"/><Relationship Id="rId5" Type="http://schemas.openxmlformats.org/officeDocument/2006/relationships/hyperlink" Target="https://creativecommons.org/licenses/by/4.0/" TargetMode="External"/><Relationship Id="rId6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33CA68-8BFC-2E4B-9706-CD8F1F3984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</a:t>
            </a:r>
            <a:r>
              <a:rPr lang="en-GB" noProof="0"/>
              <a:t>edit</a:t>
            </a:r>
            <a:r>
              <a:rPr lang="en-GB"/>
              <a:t> title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CE152937-DA5F-AD4E-8DC4-ADED40C520B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90550" y="3417888"/>
            <a:ext cx="11229935" cy="153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en-GB" dirty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edit subtitle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B1D1861B-F743-E74C-A3DE-0E6A3FE4B4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0551" y="5356226"/>
            <a:ext cx="11229933" cy="663575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r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to edit name and conference/location</a:t>
            </a:r>
          </a:p>
        </p:txBody>
      </p:sp>
    </p:spTree>
    <p:extLst>
      <p:ext uri="{BB962C8B-B14F-4D97-AF65-F5344CB8AC3E}">
        <p14:creationId xmlns:p14="http://schemas.microsoft.com/office/powerpoint/2010/main" val="2908937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7E3388-EF85-F643-AD65-3CF9C9E688E7}"/>
              </a:ext>
            </a:extLst>
          </p:cNvPr>
          <p:cNvSpPr txBox="1"/>
          <p:nvPr userDrawn="1"/>
        </p:nvSpPr>
        <p:spPr>
          <a:xfrm>
            <a:off x="3902268" y="5007428"/>
            <a:ext cx="7968885" cy="1482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6000" tIns="0" rIns="36000" bIns="0" numCol="1" anchor="t" anchorCtr="0" compatLnSpc="1">
            <a:prstTxWarp prst="textNoShape">
              <a:avLst/>
            </a:prstTxWarp>
          </a:bodyPr>
          <a:lstStyle>
            <a:lvl1pPr marL="0" indent="0" eaLnBrk="0" hangingPunct="0">
              <a:spcBef>
                <a:spcPct val="20000"/>
              </a:spcBef>
              <a:buFontTx/>
              <a:buNone/>
              <a:defRPr sz="1800">
                <a:solidFill>
                  <a:srgbClr val="003399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/>
              <a:buChar char="•"/>
              <a:defRPr sz="2800">
                <a:solidFill>
                  <a:srgbClr val="003399"/>
                </a:solidFill>
                <a:latin typeface="Arial" pitchFamily="34" charset="0"/>
                <a:cs typeface="Arial" pitchFamily="34" charset="0"/>
              </a:defRPr>
            </a:lvl2pPr>
            <a:lvl3pPr marL="806450" indent="-228600" eaLnBrk="0" hangingPunct="0">
              <a:spcBef>
                <a:spcPct val="20000"/>
              </a:spcBef>
              <a:buSzPct val="100000"/>
              <a:buFont typeface="Wingdings" charset="2"/>
              <a:buChar char="²"/>
              <a:defRPr sz="2800">
                <a:solidFill>
                  <a:srgbClr val="003399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400">
                <a:solidFill>
                  <a:srgbClr val="003399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rgbClr val="003399"/>
                </a:solidFill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rgbClr val="003399"/>
                </a:solidFill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rgbClr val="003399"/>
                </a:solidFill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rgbClr val="003399"/>
                </a:solidFill>
                <a:latin typeface="+mn-lt"/>
              </a:defRPr>
            </a:lvl9pPr>
          </a:lstStyle>
          <a:p>
            <a:pPr lvl="0" algn="r"/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+mj-lt"/>
                <a:cs typeface="Calibri"/>
              </a:rPr>
              <a:t>Dr. Daniel Huppmann</a:t>
            </a:r>
          </a:p>
          <a:p>
            <a:pPr lvl="0" algn="r"/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+mj-lt"/>
                <a:cs typeface="Calibri"/>
              </a:rPr>
              <a:t>Research</a:t>
            </a:r>
            <a:r>
              <a:rPr lang="en-US" sz="1400" baseline="0">
                <a:solidFill>
                  <a:schemeClr val="bg2">
                    <a:lumMod val="50000"/>
                  </a:schemeClr>
                </a:solidFill>
                <a:latin typeface="+mj-lt"/>
                <a:cs typeface="Calibri"/>
              </a:rPr>
              <a:t> Scholar – Energy Program</a:t>
            </a:r>
            <a:endParaRPr lang="en-US" sz="1400">
              <a:solidFill>
                <a:schemeClr val="bg2">
                  <a:lumMod val="50000"/>
                </a:schemeClr>
              </a:solidFill>
              <a:latin typeface="+mj-lt"/>
              <a:cs typeface="Calibri"/>
            </a:endParaRPr>
          </a:p>
          <a:p>
            <a:pPr lvl="0" algn="r"/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+mj-lt"/>
                <a:cs typeface="Calibri"/>
              </a:rPr>
              <a:t>International Institute for Applied Systems Analysis (IIASA)</a:t>
            </a:r>
            <a:br>
              <a:rPr lang="en-US" sz="1400">
                <a:solidFill>
                  <a:schemeClr val="bg2">
                    <a:lumMod val="50000"/>
                  </a:schemeClr>
                </a:solidFill>
                <a:latin typeface="+mj-lt"/>
                <a:cs typeface="Calibri"/>
              </a:rPr>
            </a:b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+mj-lt"/>
                <a:cs typeface="Calibri"/>
              </a:rPr>
              <a:t>Laxenburg, Austria</a:t>
            </a:r>
          </a:p>
          <a:p>
            <a:pPr lvl="0" algn="r"/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+mj-lt"/>
                <a:cs typeface="Calibri"/>
                <a:hlinkClick r:id="rId2"/>
              </a:rPr>
              <a:t>huppmann@iiasa.ac.at</a:t>
            </a:r>
            <a:br>
              <a:rPr lang="en-US" sz="1400">
                <a:solidFill>
                  <a:schemeClr val="bg2">
                    <a:lumMod val="50000"/>
                  </a:schemeClr>
                </a:solidFill>
                <a:latin typeface="+mj-lt"/>
                <a:cs typeface="Calibri"/>
              </a:rPr>
            </a:br>
            <a:r>
              <a:rPr lang="en-US" sz="1400" u="sng">
                <a:solidFill>
                  <a:schemeClr val="bg2"/>
                </a:solidFill>
                <a:latin typeface="+mj-lt"/>
                <a:cs typeface="Calibri"/>
                <a:hlinkClick r:id="rId3"/>
              </a:rPr>
              <a:t>www.iiasa.ac.at/staff/huppmann</a:t>
            </a:r>
            <a:endParaRPr lang="en-US" sz="1400" u="sng">
              <a:solidFill>
                <a:schemeClr val="bg2"/>
              </a:solidFill>
              <a:latin typeface="+mj-lt"/>
              <a:cs typeface="Calibri"/>
            </a:endParaRPr>
          </a:p>
          <a:p>
            <a:pPr lvl="0" algn="r"/>
            <a:endParaRPr lang="en-US" sz="1600">
              <a:solidFill>
                <a:schemeClr val="bg2"/>
              </a:solidFill>
              <a:latin typeface="+mj-lt"/>
              <a:cs typeface="Calibri"/>
            </a:endParaRPr>
          </a:p>
          <a:p>
            <a:pPr lvl="0" algn="r"/>
            <a:endParaRPr lang="en-US" sz="1600">
              <a:solidFill>
                <a:schemeClr val="bg2"/>
              </a:solidFill>
              <a:latin typeface="+mj-lt"/>
              <a:cs typeface="Calibri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DD1A46A0-1D3A-974A-BD7A-3938E12518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1064" y="2757858"/>
            <a:ext cx="7968885" cy="677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>
            <a:lvl1pPr marL="0" lvl="0" indent="0" eaLnBrk="0" hangingPunct="0">
              <a:spcBef>
                <a:spcPct val="20000"/>
              </a:spcBef>
              <a:buSzPct val="80000"/>
              <a:buNone/>
              <a:defRPr sz="2400" i="1">
                <a:solidFill>
                  <a:srgbClr val="003399"/>
                </a:solidFill>
                <a:latin typeface="Cambria"/>
                <a:cs typeface="Cambria"/>
              </a:defRPr>
            </a:lvl1pPr>
            <a:lvl2pPr marL="534988" indent="-344488" eaLnBrk="0" hangingPunct="0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2200">
                <a:latin typeface="Calibri"/>
                <a:cs typeface="Calibri"/>
              </a:defRPr>
            </a:lvl2pPr>
            <a:lvl3pPr marL="446088" indent="-179388" defTabSz="895350" eaLnBrk="0" hangingPunct="0">
              <a:spcBef>
                <a:spcPct val="20000"/>
              </a:spcBef>
              <a:buSzPct val="80000"/>
              <a:buFont typeface="Arial"/>
              <a:buChar char="•"/>
              <a:defRPr sz="2000">
                <a:latin typeface="Calibri"/>
                <a:cs typeface="Calibri"/>
              </a:defRPr>
            </a:lvl3pPr>
            <a:lvl4pPr marL="714375" indent="-357188" defTabSz="714375" eaLnBrk="0" hangingPunct="0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2000">
                <a:latin typeface="Calibri"/>
                <a:cs typeface="Calibri"/>
              </a:defRPr>
            </a:lvl4pPr>
            <a:lvl5pPr marL="1082675" indent="-228600" eaLnBrk="0" hangingPunct="0">
              <a:spcBef>
                <a:spcPct val="20000"/>
              </a:spcBef>
              <a:buChar char="»"/>
              <a:defRPr sz="1000">
                <a:latin typeface="Calibri"/>
                <a:cs typeface="Calibri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rgbClr val="003399"/>
                </a:solidFill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rgbClr val="003399"/>
                </a:solidFill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rgbClr val="003399"/>
                </a:solidFill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rgbClr val="003399"/>
                </a:solidFill>
                <a:latin typeface="+mn-lt"/>
              </a:defRPr>
            </a:lvl9pPr>
          </a:lstStyle>
          <a:p>
            <a:pPr lvl="0"/>
            <a:r>
              <a:rPr lang="en-US" sz="2400">
                <a:solidFill>
                  <a:schemeClr val="tx2"/>
                </a:solidFill>
              </a:rPr>
              <a:t>Thank you very much for your attention!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768A17E-D251-C544-BA8D-5422A37835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064" y="3435794"/>
            <a:ext cx="7493000" cy="1451892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buNone/>
              <a:defRPr/>
            </a:lvl1pPr>
          </a:lstStyle>
          <a:p>
            <a:r>
              <a:rPr lang="en-US"/>
              <a:t>Click to add more information</a:t>
            </a:r>
            <a:r>
              <a:rPr lang="is-IS"/>
              <a:t>…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67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 - CC BY 4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7E3388-EF85-F643-AD65-3CF9C9E688E7}"/>
              </a:ext>
            </a:extLst>
          </p:cNvPr>
          <p:cNvSpPr txBox="1"/>
          <p:nvPr userDrawn="1"/>
        </p:nvSpPr>
        <p:spPr>
          <a:xfrm>
            <a:off x="3902268" y="4757055"/>
            <a:ext cx="7968885" cy="1256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6000" tIns="0" rIns="36000" bIns="0" numCol="1" anchor="t" anchorCtr="0" compatLnSpc="1">
            <a:prstTxWarp prst="textNoShape">
              <a:avLst/>
            </a:prstTxWarp>
          </a:bodyPr>
          <a:lstStyle>
            <a:lvl1pPr marL="0" indent="0" eaLnBrk="0" hangingPunct="0">
              <a:spcBef>
                <a:spcPct val="20000"/>
              </a:spcBef>
              <a:buFontTx/>
              <a:buNone/>
              <a:defRPr sz="1800">
                <a:solidFill>
                  <a:srgbClr val="003399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/>
              <a:buChar char="•"/>
              <a:defRPr sz="2800">
                <a:solidFill>
                  <a:srgbClr val="003399"/>
                </a:solidFill>
                <a:latin typeface="Arial" pitchFamily="34" charset="0"/>
                <a:cs typeface="Arial" pitchFamily="34" charset="0"/>
              </a:defRPr>
            </a:lvl2pPr>
            <a:lvl3pPr marL="806450" indent="-228600" eaLnBrk="0" hangingPunct="0">
              <a:spcBef>
                <a:spcPct val="20000"/>
              </a:spcBef>
              <a:buSzPct val="100000"/>
              <a:buFont typeface="Wingdings" charset="2"/>
              <a:buChar char="²"/>
              <a:defRPr sz="2800">
                <a:solidFill>
                  <a:srgbClr val="003399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400">
                <a:solidFill>
                  <a:srgbClr val="003399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rgbClr val="003399"/>
                </a:solidFill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rgbClr val="003399"/>
                </a:solidFill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rgbClr val="003399"/>
                </a:solidFill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rgbClr val="003399"/>
                </a:solidFill>
                <a:latin typeface="+mn-lt"/>
              </a:defRPr>
            </a:lvl9pPr>
          </a:lstStyle>
          <a:p>
            <a:pPr lvl="0" algn="r"/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+mj-lt"/>
                <a:cs typeface="Calibri"/>
              </a:rPr>
              <a:t>Dr. Daniel Huppmann</a:t>
            </a:r>
          </a:p>
          <a:p>
            <a:pPr lvl="0" algn="r"/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+mj-lt"/>
                <a:cs typeface="Calibri"/>
              </a:rPr>
              <a:t>Research Scholar – Energy Program</a:t>
            </a:r>
          </a:p>
          <a:p>
            <a:pPr lvl="0" algn="r"/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+mj-lt"/>
                <a:cs typeface="Calibri"/>
              </a:rPr>
              <a:t>International Institute for Applied Systems Analysis (IIASA)</a:t>
            </a:r>
            <a:br>
              <a:rPr lang="en-US" sz="1400">
                <a:solidFill>
                  <a:schemeClr val="bg2">
                    <a:lumMod val="50000"/>
                  </a:schemeClr>
                </a:solidFill>
                <a:latin typeface="+mj-lt"/>
                <a:cs typeface="Calibri"/>
              </a:rPr>
            </a:b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+mj-lt"/>
                <a:cs typeface="Calibri"/>
                <a:hlinkClick r:id="rId2"/>
              </a:rPr>
              <a:t>huppmann@iiasa.ac.at</a:t>
            </a:r>
            <a:br>
              <a:rPr lang="en-US" sz="1400">
                <a:solidFill>
                  <a:schemeClr val="bg2">
                    <a:lumMod val="50000"/>
                  </a:schemeClr>
                </a:solidFill>
                <a:latin typeface="+mj-lt"/>
                <a:cs typeface="Calibri"/>
              </a:rPr>
            </a:br>
            <a:r>
              <a:rPr lang="en-US" sz="1400" u="sng">
                <a:solidFill>
                  <a:schemeClr val="bg2"/>
                </a:solidFill>
                <a:latin typeface="+mj-lt"/>
                <a:cs typeface="Calibri"/>
                <a:hlinkClick r:id="rId3"/>
              </a:rPr>
              <a:t>www.iiasa.ac.at/staff/huppmann</a:t>
            </a:r>
            <a:endParaRPr lang="en-US" sz="1400" u="sng">
              <a:solidFill>
                <a:schemeClr val="bg2"/>
              </a:solidFill>
              <a:latin typeface="+mj-lt"/>
              <a:cs typeface="Calibri"/>
            </a:endParaRPr>
          </a:p>
          <a:p>
            <a:pPr lvl="0" algn="r"/>
            <a:endParaRPr lang="en-US" sz="1600">
              <a:solidFill>
                <a:schemeClr val="bg2"/>
              </a:solidFill>
              <a:latin typeface="+mj-lt"/>
              <a:cs typeface="Calibri"/>
            </a:endParaRPr>
          </a:p>
          <a:p>
            <a:pPr lvl="0" algn="r"/>
            <a:endParaRPr lang="en-US" sz="1600">
              <a:solidFill>
                <a:schemeClr val="bg2"/>
              </a:solidFill>
              <a:latin typeface="+mj-lt"/>
              <a:cs typeface="Calibri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DD1A46A0-1D3A-974A-BD7A-3938E12518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1064" y="2757858"/>
            <a:ext cx="7968885" cy="677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>
            <a:lvl1pPr marL="0" lvl="0" indent="0" eaLnBrk="0" hangingPunct="0">
              <a:spcBef>
                <a:spcPct val="20000"/>
              </a:spcBef>
              <a:buSzPct val="80000"/>
              <a:buNone/>
              <a:defRPr sz="2400" i="1">
                <a:solidFill>
                  <a:srgbClr val="003399"/>
                </a:solidFill>
                <a:latin typeface="Cambria"/>
                <a:cs typeface="Cambria"/>
              </a:defRPr>
            </a:lvl1pPr>
            <a:lvl2pPr marL="534988" indent="-344488" eaLnBrk="0" hangingPunct="0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2200">
                <a:latin typeface="Calibri"/>
                <a:cs typeface="Calibri"/>
              </a:defRPr>
            </a:lvl2pPr>
            <a:lvl3pPr marL="446088" indent="-179388" defTabSz="895350" eaLnBrk="0" hangingPunct="0">
              <a:spcBef>
                <a:spcPct val="20000"/>
              </a:spcBef>
              <a:buSzPct val="80000"/>
              <a:buFont typeface="Arial"/>
              <a:buChar char="•"/>
              <a:defRPr sz="2000">
                <a:latin typeface="Calibri"/>
                <a:cs typeface="Calibri"/>
              </a:defRPr>
            </a:lvl3pPr>
            <a:lvl4pPr marL="714375" indent="-357188" defTabSz="714375" eaLnBrk="0" hangingPunct="0">
              <a:spcBef>
                <a:spcPct val="20000"/>
              </a:spcBef>
              <a:buSzPct val="100000"/>
              <a:buFontTx/>
              <a:buBlip>
                <a:blip r:embed="rId4"/>
              </a:buBlip>
              <a:defRPr sz="2000">
                <a:latin typeface="Calibri"/>
                <a:cs typeface="Calibri"/>
              </a:defRPr>
            </a:lvl4pPr>
            <a:lvl5pPr marL="1082675" indent="-228600" eaLnBrk="0" hangingPunct="0">
              <a:spcBef>
                <a:spcPct val="20000"/>
              </a:spcBef>
              <a:buChar char="»"/>
              <a:defRPr sz="1000">
                <a:latin typeface="Calibri"/>
                <a:cs typeface="Calibri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rgbClr val="003399"/>
                </a:solidFill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rgbClr val="003399"/>
                </a:solidFill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rgbClr val="003399"/>
                </a:solidFill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rgbClr val="003399"/>
                </a:solidFill>
                <a:latin typeface="+mn-lt"/>
              </a:defRPr>
            </a:lvl9pPr>
          </a:lstStyle>
          <a:p>
            <a:pPr lvl="0"/>
            <a:r>
              <a:rPr lang="en-US" sz="2400">
                <a:solidFill>
                  <a:schemeClr val="tx2"/>
                </a:solidFill>
              </a:rPr>
              <a:t>Thank you very much for your attention!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768A17E-D251-C544-BA8D-5422A37835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064" y="3435795"/>
            <a:ext cx="7493000" cy="1243183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buNone/>
              <a:defRPr/>
            </a:lvl1pPr>
          </a:lstStyle>
          <a:p>
            <a:r>
              <a:rPr lang="en-US"/>
              <a:t>Click to add more information</a:t>
            </a:r>
            <a:r>
              <a:rPr lang="is-IS"/>
              <a:t>…</a:t>
            </a:r>
            <a:endParaRPr lang="en-US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CE6EA96-8E49-2940-934C-149BDDADB7B4}"/>
              </a:ext>
            </a:extLst>
          </p:cNvPr>
          <p:cNvSpPr/>
          <p:nvPr userDrawn="1"/>
        </p:nvSpPr>
        <p:spPr>
          <a:xfrm>
            <a:off x="4613314" y="6060351"/>
            <a:ext cx="6096000" cy="492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6000" tIns="0" rIns="36000" bIns="0" numCol="1" anchor="t" anchorCtr="0" compatLnSpc="1">
            <a:prstTxWarp prst="textNoShape">
              <a:avLst/>
            </a:prstTxWarp>
          </a:bodyPr>
          <a:lstStyle/>
          <a:p>
            <a:pPr lvl="0" indent="0" algn="r" eaLnBrk="0" hangingPunct="0">
              <a:spcBef>
                <a:spcPct val="20000"/>
              </a:spcBef>
              <a:buFontTx/>
              <a:buNone/>
            </a:pP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+mj-lt"/>
                <a:cs typeface="Calibri"/>
              </a:rPr>
              <a:t>This presentation is licensed under</a:t>
            </a:r>
            <a:br>
              <a:rPr lang="en-US" sz="1400">
                <a:solidFill>
                  <a:schemeClr val="bg2">
                    <a:lumMod val="50000"/>
                  </a:schemeClr>
                </a:solidFill>
                <a:latin typeface="+mj-lt"/>
                <a:cs typeface="Calibri"/>
              </a:rPr>
            </a:b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+mj-lt"/>
                <a:cs typeface="Calibri"/>
              </a:rPr>
              <a:t>a </a:t>
            </a: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+mj-lt"/>
                <a:cs typeface="Calibri"/>
                <a:hlinkClick r:id="rId5"/>
              </a:rPr>
              <a:t>Creative Commons Attribution 4.0 International License </a:t>
            </a:r>
            <a:endParaRPr lang="en-US" sz="1400">
              <a:solidFill>
                <a:schemeClr val="bg2">
                  <a:lumMod val="50000"/>
                </a:schemeClr>
              </a:solidFill>
              <a:latin typeface="+mj-lt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4B80A1-23C1-7740-B8D3-1DA8B9D5F5B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753553" y="6091881"/>
            <a:ext cx="11176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16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E9D4807-C921-2F49-A0FE-1CC305E0C09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226" y="1198690"/>
            <a:ext cx="11504084" cy="4996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US" noProof="0" dirty="0" smtClean="0"/>
            </a:lvl1pPr>
            <a:lvl2pPr>
              <a:defRPr lang="en-US" noProof="0" dirty="0" smtClean="0"/>
            </a:lvl2pPr>
            <a:lvl3pPr>
              <a:defRPr lang="en-US" sz="2000" noProof="0" dirty="0" smtClean="0"/>
            </a:lvl3pPr>
            <a:lvl4pPr>
              <a:defRPr lang="en-US" sz="2000" noProof="0" dirty="0" smtClean="0"/>
            </a:lvl4pPr>
            <a:lvl5pPr>
              <a:defRPr lang="en-US" sz="1000" dirty="0"/>
            </a:lvl5pPr>
          </a:lstStyle>
          <a:p>
            <a:pPr lvl="0"/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Calibri"/>
              </a:rPr>
              <a:t>Click to edit text</a:t>
            </a:r>
          </a:p>
          <a:p>
            <a:pPr lvl="1"/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Second level</a:t>
            </a:r>
          </a:p>
          <a:p>
            <a:pPr lvl="2"/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Third level</a:t>
            </a:r>
          </a:p>
          <a:p>
            <a:pPr lvl="3"/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Fourth level</a:t>
            </a:r>
          </a:p>
          <a:p>
            <a:pPr lvl="4"/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Fifth level</a:t>
            </a:r>
            <a:endParaRPr lang="en-US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54BEB4E2-004E-2A4A-A4E5-791ECEE48A3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CCCF253-1AAC-4E48-AEC6-9F6937C7D46B}" type="datetime4">
              <a:rPr lang="LID4096" noProof="0" smtClean="0"/>
              <a:t>22 April 2021</a:t>
            </a:fld>
            <a:endParaRPr lang="en-GB" noProof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E624A94B-69A8-A64E-AC8E-D406AC16748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noProof="0"/>
              <a:t>The MESSAGEix modeling framework for integrated and x-cutting analysis</a:t>
            </a:r>
            <a:endParaRPr lang="en-GB" noProof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7A718F5-12AB-7444-AEA8-0CAA0EF22FA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8B0777-827F-8D42-90B1-61394C340E65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D7969FA-78A3-8649-902C-D12F28E35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1353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la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E9D4807-C921-2F49-A0FE-1CC305E0C09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5601" y="1531729"/>
            <a:ext cx="11504084" cy="4673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US" noProof="0" dirty="0" smtClean="0"/>
            </a:lvl1pPr>
            <a:lvl2pPr>
              <a:defRPr lang="en-US" noProof="0" dirty="0" smtClean="0"/>
            </a:lvl2pPr>
            <a:lvl3pPr>
              <a:defRPr lang="en-US" sz="2000" noProof="0" dirty="0" smtClean="0"/>
            </a:lvl3pPr>
            <a:lvl4pPr>
              <a:defRPr lang="en-US" sz="2000" noProof="0" dirty="0" smtClean="0"/>
            </a:lvl4pPr>
            <a:lvl5pPr>
              <a:defRPr lang="en-US" sz="1000" dirty="0"/>
            </a:lvl5pPr>
          </a:lstStyle>
          <a:p>
            <a:pPr lvl="0"/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Calibri"/>
              </a:rPr>
              <a:t>Click to edit text</a:t>
            </a:r>
          </a:p>
          <a:p>
            <a:pPr lvl="1"/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Second level</a:t>
            </a:r>
          </a:p>
          <a:p>
            <a:pPr lvl="2"/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Third level</a:t>
            </a:r>
          </a:p>
          <a:p>
            <a:pPr lvl="3"/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Fourth level</a:t>
            </a:r>
          </a:p>
          <a:p>
            <a:pPr lvl="4"/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Fifth level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67D5EB1-8B5A-C34D-BAA2-CFA49CBAF3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5601" y="881743"/>
            <a:ext cx="10655300" cy="432271"/>
          </a:xfrm>
        </p:spPr>
        <p:txBody>
          <a:bodyPr/>
          <a:lstStyle>
            <a:lvl1pPr marL="0" indent="0">
              <a:buNone/>
              <a:defRPr sz="2400" i="1" baseline="0">
                <a:solidFill>
                  <a:schemeClr val="tx2"/>
                </a:solidFill>
                <a:latin typeface="Cambria"/>
                <a:cs typeface="Cambria"/>
              </a:defRPr>
            </a:lvl1pPr>
          </a:lstStyle>
          <a:p>
            <a:pPr lvl="0"/>
            <a:r>
              <a:rPr lang="en-US" noProof="0"/>
              <a:t>Click to add claim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729D5D4-C64B-074D-8279-BA239F46B4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de-DE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EB4B0E75-1EF5-3F4E-9763-1ADA2EE8CD8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74733" y="6548750"/>
            <a:ext cx="9084295" cy="230266"/>
          </a:xfrm>
        </p:spPr>
        <p:txBody>
          <a:bodyPr/>
          <a:lstStyle/>
          <a:p>
            <a:fld id="{D70C37C2-A143-402B-877C-849CBEEFD25A}" type="datetime4">
              <a:rPr lang="LID4096" smtClean="0"/>
              <a:t>22 April 2021</a:t>
            </a:fld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EB8A87EB-53EF-6C4E-AEB5-195A5FC670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The MESSAGEix modeling framework for integrated and x-cutting analysis</a:t>
            </a:r>
            <a:endParaRPr lang="en-GB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F79ECAAF-9C72-C046-8E8B-212A51577E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38B0777-827F-8D42-90B1-61394C340E6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384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2) with cla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E9D4807-C921-2F49-A0FE-1CC305E0C09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5602" y="1531729"/>
            <a:ext cx="5624285" cy="4673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US" noProof="0" dirty="0" smtClean="0"/>
            </a:lvl1pPr>
            <a:lvl2pPr>
              <a:defRPr lang="en-US" noProof="0" dirty="0" smtClean="0"/>
            </a:lvl2pPr>
            <a:lvl3pPr>
              <a:defRPr lang="en-US" sz="2000" noProof="0" dirty="0" smtClean="0"/>
            </a:lvl3pPr>
            <a:lvl4pPr>
              <a:defRPr lang="en-US" sz="2000" noProof="0" dirty="0" smtClean="0"/>
            </a:lvl4pPr>
            <a:lvl5pPr>
              <a:defRPr lang="en-US" sz="1000" dirty="0"/>
            </a:lvl5pPr>
          </a:lstStyle>
          <a:p>
            <a:pPr lvl="0"/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Calibri"/>
              </a:rPr>
              <a:t>Click to edit text</a:t>
            </a:r>
          </a:p>
          <a:p>
            <a:pPr lvl="1"/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Second level</a:t>
            </a:r>
          </a:p>
          <a:p>
            <a:pPr lvl="2"/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Third level</a:t>
            </a:r>
          </a:p>
          <a:p>
            <a:pPr lvl="3"/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Fourth level</a:t>
            </a:r>
          </a:p>
          <a:p>
            <a:pPr lvl="4"/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Fifth level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67D5EB1-8B5A-C34D-BAA2-CFA49CBAF3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5601" y="881743"/>
            <a:ext cx="10655300" cy="432271"/>
          </a:xfrm>
        </p:spPr>
        <p:txBody>
          <a:bodyPr/>
          <a:lstStyle>
            <a:lvl1pPr marL="0" indent="0">
              <a:buNone/>
              <a:defRPr sz="2400" i="1" baseline="0">
                <a:solidFill>
                  <a:schemeClr val="tx2"/>
                </a:solidFill>
                <a:latin typeface="Cambria"/>
                <a:cs typeface="Cambria"/>
              </a:defRPr>
            </a:lvl1pPr>
          </a:lstStyle>
          <a:p>
            <a:pPr lvl="0"/>
            <a:r>
              <a:rPr lang="en-US" noProof="0"/>
              <a:t>Click to add claim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0A81349-9165-6841-B8E8-0D132091E49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34742" y="1531729"/>
            <a:ext cx="5624285" cy="4673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US" noProof="0" dirty="0" smtClean="0"/>
            </a:lvl1pPr>
            <a:lvl2pPr>
              <a:defRPr lang="en-US" noProof="0" dirty="0" smtClean="0"/>
            </a:lvl2pPr>
            <a:lvl3pPr>
              <a:defRPr lang="en-US" sz="2000" noProof="0" dirty="0" smtClean="0"/>
            </a:lvl3pPr>
            <a:lvl4pPr>
              <a:defRPr lang="en-US" sz="2000" noProof="0" dirty="0" smtClean="0"/>
            </a:lvl4pPr>
            <a:lvl5pPr>
              <a:defRPr lang="en-US" sz="1000" dirty="0"/>
            </a:lvl5pPr>
          </a:lstStyle>
          <a:p>
            <a:pPr lvl="0"/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Calibri"/>
              </a:rPr>
              <a:t>Click to edit text</a:t>
            </a:r>
          </a:p>
          <a:p>
            <a:pPr lvl="1"/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Second level</a:t>
            </a:r>
          </a:p>
          <a:p>
            <a:pPr lvl="2"/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Third level</a:t>
            </a:r>
          </a:p>
          <a:p>
            <a:pPr lvl="3"/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Fourth level</a:t>
            </a:r>
          </a:p>
          <a:p>
            <a:pPr lvl="4"/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Fifth level</a:t>
            </a:r>
            <a:endParaRPr lang="en-US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AF3E2DE0-9498-2347-94D1-DECDC4FD8BA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44AD98C-C026-43BB-AEEE-3945BA0F5F8C}" type="datetime4">
              <a:rPr lang="LID4096" noProof="0" smtClean="0"/>
              <a:t>22 April 2021</a:t>
            </a:fld>
            <a:endParaRPr lang="en-GB" noProof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60EF2202-3676-0F4D-B61E-8B539502438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r"/>
            <a:r>
              <a:rPr lang="en-US" noProof="0"/>
              <a:t>The MESSAGEix modeling framework for integrated and x-cutting analysis</a:t>
            </a:r>
            <a:endParaRPr lang="en-GB" noProof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84A99E97-F63E-9145-9C57-A0BDE61F25F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38B0777-827F-8D42-90B1-61394C340E65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04D362A-5F5C-0849-8BA5-9D05FD006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9770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laim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E9D4807-C921-2F49-A0FE-1CC305E0C09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5601" y="1752601"/>
            <a:ext cx="11504084" cy="4452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US" noProof="0" dirty="0" smtClean="0"/>
            </a:lvl1pPr>
            <a:lvl2pPr>
              <a:defRPr lang="en-US" noProof="0" dirty="0" smtClean="0"/>
            </a:lvl2pPr>
            <a:lvl3pPr>
              <a:defRPr lang="en-US" sz="2000" noProof="0" dirty="0" smtClean="0"/>
            </a:lvl3pPr>
            <a:lvl4pPr>
              <a:defRPr lang="en-US" sz="2000" noProof="0" dirty="0" smtClean="0"/>
            </a:lvl4pPr>
            <a:lvl5pPr>
              <a:defRPr lang="en-US" sz="1000" dirty="0"/>
            </a:lvl5pPr>
          </a:lstStyle>
          <a:p>
            <a:pPr lvl="0"/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Calibri"/>
              </a:rPr>
              <a:t>Click to edit text</a:t>
            </a:r>
          </a:p>
          <a:p>
            <a:pPr lvl="1"/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Second level</a:t>
            </a:r>
          </a:p>
          <a:p>
            <a:pPr lvl="2"/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Third level</a:t>
            </a:r>
          </a:p>
          <a:p>
            <a:pPr lvl="3"/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Fourth level</a:t>
            </a:r>
          </a:p>
          <a:p>
            <a:pPr lvl="4"/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Fifth level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67D5EB1-8B5A-C34D-BAA2-CFA49CBAF3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5601" y="881742"/>
            <a:ext cx="10655300" cy="772886"/>
          </a:xfrm>
        </p:spPr>
        <p:txBody>
          <a:bodyPr/>
          <a:lstStyle>
            <a:lvl1pPr marL="0" indent="0">
              <a:buNone/>
              <a:defRPr sz="2400" i="1" baseline="0">
                <a:solidFill>
                  <a:schemeClr val="tx2"/>
                </a:solidFill>
                <a:latin typeface="Cambria"/>
                <a:cs typeface="Cambria"/>
              </a:defRPr>
            </a:lvl1pPr>
          </a:lstStyle>
          <a:p>
            <a:pPr lvl="0"/>
            <a:r>
              <a:rPr lang="en-US" noProof="0"/>
              <a:t>Click to add claim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752BF138-1775-6148-A974-5C16BE30993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782D6B4-2390-4BCC-B671-8CF648CB235D}" type="datetime4">
              <a:rPr lang="LID4096" noProof="0" smtClean="0"/>
              <a:t>22 April 2021</a:t>
            </a:fld>
            <a:endParaRPr lang="en-GB" noProof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A4A74F14-897C-6E4D-9528-D7A9EF6FDA3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 noProof="0"/>
              <a:t>The MESSAGEix modeling framework for integrated and x-cutting analysis</a:t>
            </a:r>
            <a:endParaRPr lang="en-GB" noProof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D5C5EC56-06C5-7043-8E2C-AC0D3AF234A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38B0777-827F-8D42-90B1-61394C340E65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542429B-F3DE-644E-A4AB-CEBD3E936C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4937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laim (2) &amp;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E9D4807-C921-2F49-A0FE-1CC305E0C09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5601" y="1752603"/>
            <a:ext cx="11504084" cy="4184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US" noProof="0" dirty="0" smtClean="0"/>
            </a:lvl1pPr>
            <a:lvl2pPr>
              <a:defRPr lang="en-US" noProof="0" dirty="0" smtClean="0"/>
            </a:lvl2pPr>
            <a:lvl3pPr>
              <a:defRPr lang="en-US" sz="2000" noProof="0" dirty="0" smtClean="0"/>
            </a:lvl3pPr>
            <a:lvl4pPr>
              <a:defRPr lang="en-US" sz="2000" noProof="0" dirty="0" smtClean="0"/>
            </a:lvl4pPr>
            <a:lvl5pPr>
              <a:defRPr lang="en-US" sz="1000" dirty="0"/>
            </a:lvl5pPr>
          </a:lstStyle>
          <a:p>
            <a:pPr lvl="0"/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Calibri"/>
              </a:rPr>
              <a:t>Click to edit text</a:t>
            </a:r>
          </a:p>
          <a:p>
            <a:pPr lvl="1"/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Second level</a:t>
            </a:r>
          </a:p>
          <a:p>
            <a:pPr lvl="2"/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Third level</a:t>
            </a:r>
          </a:p>
          <a:p>
            <a:pPr lvl="3"/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Fourth level</a:t>
            </a:r>
          </a:p>
          <a:p>
            <a:pPr lvl="4"/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Fifth level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67D5EB1-8B5A-C34D-BAA2-CFA49CBAF3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5601" y="881742"/>
            <a:ext cx="10655300" cy="772886"/>
          </a:xfrm>
        </p:spPr>
        <p:txBody>
          <a:bodyPr/>
          <a:lstStyle>
            <a:lvl1pPr marL="0" indent="0">
              <a:buNone/>
              <a:defRPr sz="2400" i="1" baseline="0">
                <a:solidFill>
                  <a:schemeClr val="tx2"/>
                </a:solidFill>
                <a:latin typeface="Cambria"/>
                <a:cs typeface="Cambria"/>
              </a:defRPr>
            </a:lvl1pPr>
          </a:lstStyle>
          <a:p>
            <a:pPr lvl="0"/>
            <a:r>
              <a:rPr lang="en-US" noProof="0"/>
              <a:t>Click to add claim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53E748C-3200-384B-833D-A6D019DBD7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22400" y="6001118"/>
            <a:ext cx="9971315" cy="29260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Click to edit caption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9980DA6E-0BCB-B149-8312-B9EDDF1DACD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38B0777-827F-8D42-90B1-61394C340E65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A37A388-3172-AA42-B669-9A4D925C0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5597527-2337-A348-8928-8ECA92D3337B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23412D64-AA80-4167-B477-6ED1D7FC4795}" type="datetime4">
              <a:rPr lang="LID4096" smtClean="0"/>
              <a:t>22 April 2021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AE9C00B-4B82-0546-8E83-2ED4B715FB4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The MESSAGEix modeling framework for integrated and x-cutting analysis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585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laim (2), caption and y-l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E9D4807-C921-2F49-A0FE-1CC305E0C09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3143" y="1752603"/>
            <a:ext cx="11206541" cy="4183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US" noProof="0" dirty="0" smtClean="0"/>
            </a:lvl1pPr>
            <a:lvl2pPr>
              <a:defRPr lang="en-US" noProof="0" dirty="0" smtClean="0"/>
            </a:lvl2pPr>
            <a:lvl3pPr>
              <a:defRPr lang="en-US" sz="2000" noProof="0" dirty="0" smtClean="0"/>
            </a:lvl3pPr>
            <a:lvl4pPr>
              <a:defRPr lang="en-US" sz="2000" noProof="0" dirty="0" smtClean="0"/>
            </a:lvl4pPr>
            <a:lvl5pPr>
              <a:defRPr lang="en-US" sz="1000" dirty="0"/>
            </a:lvl5pPr>
          </a:lstStyle>
          <a:p>
            <a:pPr lvl="0"/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Calibri"/>
              </a:rPr>
              <a:t>Click to edit text</a:t>
            </a:r>
          </a:p>
          <a:p>
            <a:pPr lvl="1"/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Second level</a:t>
            </a:r>
          </a:p>
          <a:p>
            <a:pPr lvl="2"/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Third level</a:t>
            </a:r>
          </a:p>
          <a:p>
            <a:pPr lvl="3"/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Fourth level</a:t>
            </a:r>
          </a:p>
          <a:p>
            <a:pPr lvl="4"/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Fifth level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67D5EB1-8B5A-C34D-BAA2-CFA49CBAF3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5601" y="881742"/>
            <a:ext cx="10655300" cy="772886"/>
          </a:xfrm>
        </p:spPr>
        <p:txBody>
          <a:bodyPr/>
          <a:lstStyle>
            <a:lvl1pPr marL="0" indent="0">
              <a:buNone/>
              <a:defRPr sz="2400" i="1" baseline="0">
                <a:solidFill>
                  <a:schemeClr val="tx2"/>
                </a:solidFill>
                <a:latin typeface="Cambria"/>
                <a:cs typeface="Cambria"/>
              </a:defRPr>
            </a:lvl1pPr>
          </a:lstStyle>
          <a:p>
            <a:pPr lvl="0"/>
            <a:r>
              <a:rPr lang="en-US" noProof="0"/>
              <a:t>Click to add claim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53E748C-3200-384B-833D-A6D019DBD7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22400" y="6001112"/>
            <a:ext cx="9971315" cy="2922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Click to edit caption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D502433B-089C-7144-A4B1-6A1760057C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 rot="16200000">
            <a:off x="-1748544" y="3649281"/>
            <a:ext cx="4208291" cy="389299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0000" bIns="36000" numCol="1" rtlCol="0" anchor="ctr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None/>
              <a:defRPr lang="en-GB" sz="1600">
                <a:solidFill>
                  <a:srgbClr val="7F7F7F"/>
                </a:solidFill>
              </a:defRPr>
            </a:lvl1pPr>
          </a:lstStyle>
          <a:p>
            <a:pPr marL="271463" lvl="0" indent="-271463" algn="r"/>
            <a:r>
              <a:rPr lang="en-GB" noProof="0"/>
              <a:t>Click to edit y-label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11994D-1B67-C647-8BC8-9ABB1AFE1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8C2E476-90DE-BF48-9DA0-02C9EA1D5D38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CA025497-7E11-4525-9692-4120F835BBD2}" type="datetime4">
              <a:rPr lang="LID4096" smtClean="0"/>
              <a:t>22 April 2021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7504155-9572-4142-B059-36E726FEC160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The MESSAGEix modeling framework for integrated and x-cutting analysis</a:t>
            </a:r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A9C8981-E3CF-0E47-9DDD-0827EA17052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838B0777-827F-8D42-90B1-61394C340E6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0119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emf"/><Relationship Id="rId6" Type="http://schemas.openxmlformats.org/officeDocument/2006/relationships/image" Target="../media/image2.png"/><Relationship Id="rId7" Type="http://schemas.openxmlformats.org/officeDocument/2006/relationships/image" Target="../media/image3.emf"/><Relationship Id="rId8" Type="http://schemas.openxmlformats.org/officeDocument/2006/relationships/image" Target="../media/image4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8" Type="http://schemas.openxmlformats.org/officeDocument/2006/relationships/image" Target="../media/image3.emf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8B164D5-1A33-8A4B-AFAD-249DDCD34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063" y="1961663"/>
            <a:ext cx="11229423" cy="1325563"/>
          </a:xfrm>
          <a:prstGeom prst="rect">
            <a:avLst/>
          </a:prstGeom>
        </p:spPr>
        <p:txBody>
          <a:bodyPr vert="horz" lIns="36000" tIns="36000" rIns="36000" bIns="36000" rtlCol="0" anchor="b">
            <a:normAutofit/>
          </a:bodyPr>
          <a:lstStyle/>
          <a:p>
            <a:r>
              <a:rPr lang="en-GB"/>
              <a:t>Click to </a:t>
            </a:r>
            <a:r>
              <a:rPr lang="en-GB" noProof="0"/>
              <a:t>edit</a:t>
            </a:r>
            <a:r>
              <a:rPr lang="en-GB"/>
              <a:t> title</a:t>
            </a:r>
          </a:p>
        </p:txBody>
      </p:sp>
      <p:pic>
        <p:nvPicPr>
          <p:cNvPr id="12" name="Picture 8">
            <a:extLst>
              <a:ext uri="{FF2B5EF4-FFF2-40B4-BE49-F238E27FC236}">
                <a16:creationId xmlns:a16="http://schemas.microsoft.com/office/drawing/2014/main" id="{95F1087B-A5F9-C84D-8FC7-3CA8ECEA127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660876" y="293886"/>
            <a:ext cx="2159611" cy="4523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FB13B4-4775-4053-913C-537D75D956C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19616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63FD1B-2945-9D4A-B758-A8D99159B6D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411558" y="161471"/>
            <a:ext cx="459381" cy="6533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D0272A-EBA9-4B7B-A259-F6B18F1BC8B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5396524"/>
            <a:ext cx="12192000" cy="146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0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3600" b="0" kern="1200" noProof="0" smtClean="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GB" sz="2000" kern="1200" dirty="0">
          <a:solidFill>
            <a:schemeClr val="tx1"/>
          </a:solidFill>
          <a:latin typeface="+mj-lt"/>
          <a:ea typeface="+mj-ea"/>
          <a:cs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74733" y="6557549"/>
            <a:ext cx="9084295" cy="230400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 b="0" i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alibri Light" panose="020F0302020204030204" pitchFamily="34" charset="0"/>
                <a:ea typeface="Tahoma" panose="020B0604030504040204" pitchFamily="34" charset="0"/>
                <a:cs typeface="Calibri Light" panose="020F0302020204030204" pitchFamily="34" charset="0"/>
              </a:defRPr>
            </a:lvl1pPr>
          </a:lstStyle>
          <a:p>
            <a:fld id="{29920D7F-2E71-4F3D-9F44-90C68F6B8EA4}" type="datetime4">
              <a:rPr lang="LID4096" smtClean="0"/>
              <a:t>22 April 2021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6288" y="6557549"/>
            <a:ext cx="807720" cy="230400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lang="en-US" sz="1400" b="0" i="0" kern="1200" noProof="0" smtClean="0">
                <a:solidFill>
                  <a:schemeClr val="bg1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fld id="{838B0777-827F-8D42-90B1-61394C340E6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A2480010-F678-B344-A032-37DB46F81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13" y="234494"/>
            <a:ext cx="8911916" cy="522251"/>
          </a:xfrm>
          <a:prstGeom prst="rect">
            <a:avLst/>
          </a:prstGeom>
        </p:spPr>
        <p:txBody>
          <a:bodyPr vert="horz" lIns="36000" tIns="36000" rIns="36000" bIns="36000" rtlCol="0" anchor="b">
            <a:noAutofit/>
          </a:bodyPr>
          <a:lstStyle/>
          <a:p>
            <a:pPr lvl="0"/>
            <a:r>
              <a:rPr lang="en-US"/>
              <a:t>Click to edit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A1752F-D51E-0D41-BBC4-900B799480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74731" y="6310241"/>
            <a:ext cx="9084296" cy="230400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lang="en-US" sz="1400" b="0" i="0" smtClean="0">
                <a:solidFill>
                  <a:schemeClr val="tx2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r>
              <a:rPr lang="en-US"/>
              <a:t>The MESSAGEix modeling framework for integrated and x-cutting analysis</a:t>
            </a: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5476819-1AC2-8345-935D-AC08E5CD6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6288" y="1197429"/>
            <a:ext cx="11502739" cy="5023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Calibri"/>
              </a:rPr>
              <a:t>Click to edit text</a:t>
            </a:r>
          </a:p>
          <a:p>
            <a:pPr lvl="1"/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Second level</a:t>
            </a:r>
          </a:p>
          <a:p>
            <a:pPr lvl="2"/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Third level</a:t>
            </a:r>
          </a:p>
          <a:p>
            <a:pPr lvl="3"/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Fourth level</a:t>
            </a:r>
          </a:p>
          <a:p>
            <a:pPr lvl="4"/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cs typeface="Calibri"/>
              </a:rPr>
              <a:t>Fifth level</a:t>
            </a:r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63FD1B-2945-9D4A-B758-A8D99159B6D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411558" y="161471"/>
            <a:ext cx="459381" cy="65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45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600" b="0" i="0" kern="1200" noProof="0" dirty="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71463" marR="0" indent="-271463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80000"/>
        <a:buFontTx/>
        <a:buChar char="•"/>
        <a:tabLst/>
        <a:defRPr kumimoji="0" lang="en-US" sz="2200" b="0" i="0" u="none" strike="noStrike" kern="0" cap="none" spc="0" normalizeH="0" baseline="0" noProof="0" dirty="0" smtClean="0">
          <a:ln>
            <a:noFill/>
          </a:ln>
          <a:solidFill>
            <a:srgbClr val="000000"/>
          </a:solidFill>
          <a:effectLst/>
          <a:uLnTx/>
          <a:uFillTx/>
          <a:latin typeface="Calibri Light"/>
          <a:ea typeface="+mn-ea"/>
          <a:cs typeface="Calibri"/>
        </a:defRPr>
      </a:lvl1pPr>
      <a:lvl2pPr marL="534988" marR="0" indent="-344488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100000"/>
        <a:buFontTx/>
        <a:buBlip>
          <a:blip r:embed="rId9"/>
        </a:buBlip>
        <a:tabLst/>
        <a:defRPr kumimoji="0" lang="en-US" sz="2200" b="0" i="0" u="none" strike="noStrike" kern="0" cap="none" spc="0" normalizeH="0" baseline="0" noProof="0" dirty="0" smtClean="0">
          <a:ln>
            <a:noFill/>
          </a:ln>
          <a:solidFill>
            <a:srgbClr val="000000"/>
          </a:solidFill>
          <a:effectLst/>
          <a:uLnTx/>
          <a:uFillTx/>
          <a:latin typeface="Calibri Light"/>
          <a:ea typeface="+mn-ea"/>
          <a:cs typeface="Calibri"/>
        </a:defRPr>
      </a:lvl2pPr>
      <a:lvl3pPr marL="446088" marR="0" indent="-179388" algn="l" defTabSz="89535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80000"/>
        <a:buFont typeface="Arial"/>
        <a:buChar char="•"/>
        <a:tabLst/>
        <a:defRPr kumimoji="0" lang="en-US" sz="2000" b="0" i="0" u="none" strike="noStrike" kern="0" cap="none" spc="0" normalizeH="0" baseline="0" noProof="0" dirty="0" smtClean="0">
          <a:ln>
            <a:noFill/>
          </a:ln>
          <a:solidFill>
            <a:srgbClr val="000000"/>
          </a:solidFill>
          <a:effectLst/>
          <a:uLnTx/>
          <a:uFillTx/>
          <a:latin typeface="Calibri Light"/>
          <a:ea typeface="+mn-ea"/>
          <a:cs typeface="Calibri"/>
        </a:defRPr>
      </a:lvl3pPr>
      <a:lvl4pPr marL="714375" marR="0" indent="-357188" algn="l" defTabSz="714375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100000"/>
        <a:buFontTx/>
        <a:buBlip>
          <a:blip r:embed="rId9"/>
        </a:buBlip>
        <a:tabLst/>
        <a:defRPr kumimoji="0" lang="en-US" sz="2000" b="0" i="0" u="none" strike="noStrike" kern="0" cap="none" spc="0" normalizeH="0" baseline="0" noProof="0" dirty="0" smtClean="0">
          <a:ln>
            <a:noFill/>
          </a:ln>
          <a:solidFill>
            <a:srgbClr val="000000"/>
          </a:solidFill>
          <a:effectLst/>
          <a:uLnTx/>
          <a:uFillTx/>
          <a:latin typeface="Calibri Light"/>
          <a:ea typeface="+mn-ea"/>
          <a:cs typeface="Calibri"/>
        </a:defRPr>
      </a:lvl4pPr>
      <a:lvl5pPr marL="1082675" marR="0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»"/>
        <a:tabLst/>
        <a:defRPr kumimoji="0" lang="en-US" sz="1000" b="0" i="0" u="none" strike="noStrike" kern="0" cap="none" spc="0" normalizeH="0" baseline="0" noProof="0" dirty="0">
          <a:ln>
            <a:noFill/>
          </a:ln>
          <a:solidFill>
            <a:srgbClr val="000000"/>
          </a:solidFill>
          <a:effectLst/>
          <a:uLnTx/>
          <a:uFillTx/>
          <a:latin typeface="Calibri Light"/>
          <a:ea typeface="+mn-ea"/>
          <a:cs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3F3A0DD-677D-42CA-9879-60C58BBE93B6}"/>
              </a:ext>
            </a:extLst>
          </p:cNvPr>
          <p:cNvCxnSpPr>
            <a:cxnSpLocks/>
          </p:cNvCxnSpPr>
          <p:nvPr/>
        </p:nvCxnSpPr>
        <p:spPr>
          <a:xfrm>
            <a:off x="2395067" y="4267355"/>
            <a:ext cx="1424584" cy="0"/>
          </a:xfrm>
          <a:prstGeom prst="straightConnector1">
            <a:avLst/>
          </a:prstGeom>
          <a:ln w="28575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9F8825AE-3E6F-4C81-BB48-E6E8FDD10F2E}"/>
              </a:ext>
            </a:extLst>
          </p:cNvPr>
          <p:cNvSpPr/>
          <p:nvPr/>
        </p:nvSpPr>
        <p:spPr>
          <a:xfrm>
            <a:off x="4053840" y="1409700"/>
            <a:ext cx="7680959" cy="4981575"/>
          </a:xfrm>
          <a:prstGeom prst="roundRect">
            <a:avLst>
              <a:gd name="adj" fmla="val 1944"/>
            </a:avLst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1B728-EBBE-418E-9A7F-A42AFCECD3A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56288" y="6557549"/>
            <a:ext cx="807720" cy="2304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38B0777-827F-8D42-90B1-61394C340E65}" type="slidenum">
              <a:rPr lang="en-GB" sz="1100" smtClean="0"/>
              <a:pPr>
                <a:lnSpc>
                  <a:spcPct val="90000"/>
                </a:lnSpc>
                <a:spcAft>
                  <a:spcPts val="600"/>
                </a:spcAft>
              </a:pPr>
              <a:t>1</a:t>
            </a:fld>
            <a:endParaRPr lang="en-GB" sz="11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597677-7AC6-420E-AA81-BCB6AD5A4F77}"/>
              </a:ext>
            </a:extLst>
          </p:cNvPr>
          <p:cNvSpPr txBox="1"/>
          <p:nvPr/>
        </p:nvSpPr>
        <p:spPr>
          <a:xfrm flipH="1">
            <a:off x="5937468" y="3462595"/>
            <a:ext cx="1750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Primary Energy</a:t>
            </a:r>
            <a:endParaRPr lang="en-GB" sz="16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669AEE0-3451-4717-B2AB-0E00D1A36DEC}"/>
              </a:ext>
            </a:extLst>
          </p:cNvPr>
          <p:cNvCxnSpPr>
            <a:cxnSpLocks/>
          </p:cNvCxnSpPr>
          <p:nvPr/>
        </p:nvCxnSpPr>
        <p:spPr>
          <a:xfrm>
            <a:off x="6054925" y="3856208"/>
            <a:ext cx="0" cy="209538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42F367C-7119-4F72-BA61-872C0C82F4B8}"/>
              </a:ext>
            </a:extLst>
          </p:cNvPr>
          <p:cNvCxnSpPr>
            <a:cxnSpLocks/>
          </p:cNvCxnSpPr>
          <p:nvPr/>
        </p:nvCxnSpPr>
        <p:spPr>
          <a:xfrm>
            <a:off x="6704745" y="3870974"/>
            <a:ext cx="0" cy="2080445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799D34C-2958-4C4E-B40C-9289FE40B9B5}"/>
              </a:ext>
            </a:extLst>
          </p:cNvPr>
          <p:cNvCxnSpPr>
            <a:cxnSpLocks/>
          </p:cNvCxnSpPr>
          <p:nvPr/>
        </p:nvCxnSpPr>
        <p:spPr>
          <a:xfrm>
            <a:off x="7365658" y="3870974"/>
            <a:ext cx="0" cy="207821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C38CCA1-F993-4156-AB93-6AE7EA6744B9}"/>
              </a:ext>
            </a:extLst>
          </p:cNvPr>
          <p:cNvSpPr txBox="1"/>
          <p:nvPr/>
        </p:nvSpPr>
        <p:spPr>
          <a:xfrm rot="16200000">
            <a:off x="5355449" y="5211489"/>
            <a:ext cx="11495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biomass</a:t>
            </a:r>
            <a:endParaRPr lang="en-GB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5668BF-79B7-4004-BE16-D1EB0121BF5C}"/>
              </a:ext>
            </a:extLst>
          </p:cNvPr>
          <p:cNvSpPr txBox="1"/>
          <p:nvPr/>
        </p:nvSpPr>
        <p:spPr>
          <a:xfrm rot="16200000">
            <a:off x="5960705" y="5211489"/>
            <a:ext cx="11495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coal</a:t>
            </a:r>
            <a:endParaRPr lang="en-GB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168BA4-69DA-4DA7-BB22-FF9D087F693E}"/>
              </a:ext>
            </a:extLst>
          </p:cNvPr>
          <p:cNvSpPr txBox="1"/>
          <p:nvPr/>
        </p:nvSpPr>
        <p:spPr>
          <a:xfrm rot="16200000">
            <a:off x="6637388" y="5212097"/>
            <a:ext cx="11495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…</a:t>
            </a:r>
            <a:endParaRPr lang="en-GB" sz="16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2D4BB40-8A66-4522-9F1C-182D764F3039}"/>
              </a:ext>
            </a:extLst>
          </p:cNvPr>
          <p:cNvCxnSpPr>
            <a:cxnSpLocks/>
          </p:cNvCxnSpPr>
          <p:nvPr/>
        </p:nvCxnSpPr>
        <p:spPr>
          <a:xfrm>
            <a:off x="5271782" y="4948854"/>
            <a:ext cx="1432963" cy="0"/>
          </a:xfrm>
          <a:prstGeom prst="straightConnector1">
            <a:avLst/>
          </a:prstGeom>
          <a:ln w="28575">
            <a:solidFill>
              <a:srgbClr val="7F7F7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6AC2707-40C5-429B-916D-0F5C2AB0E0F4}"/>
              </a:ext>
            </a:extLst>
          </p:cNvPr>
          <p:cNvCxnSpPr>
            <a:cxnSpLocks/>
          </p:cNvCxnSpPr>
          <p:nvPr/>
        </p:nvCxnSpPr>
        <p:spPr>
          <a:xfrm flipH="1">
            <a:off x="3281468" y="1409700"/>
            <a:ext cx="7916" cy="498157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FB8AB23-0CB0-4069-A3FF-E92EC2DD745D}"/>
              </a:ext>
            </a:extLst>
          </p:cNvPr>
          <p:cNvSpPr txBox="1"/>
          <p:nvPr/>
        </p:nvSpPr>
        <p:spPr>
          <a:xfrm rot="16200000" flipH="1">
            <a:off x="2356005" y="5526416"/>
            <a:ext cx="159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Biomass (link)</a:t>
            </a:r>
            <a:endParaRPr lang="en-GB" sz="1600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1F1DFB1-3819-4D22-8193-DBC7F745B913}"/>
              </a:ext>
            </a:extLst>
          </p:cNvPr>
          <p:cNvCxnSpPr>
            <a:cxnSpLocks/>
          </p:cNvCxnSpPr>
          <p:nvPr/>
        </p:nvCxnSpPr>
        <p:spPr>
          <a:xfrm>
            <a:off x="3281468" y="4135516"/>
            <a:ext cx="2773457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96804B0-473C-49D3-8C9A-E550C03B3730}"/>
              </a:ext>
            </a:extLst>
          </p:cNvPr>
          <p:cNvCxnSpPr>
            <a:cxnSpLocks/>
          </p:cNvCxnSpPr>
          <p:nvPr/>
        </p:nvCxnSpPr>
        <p:spPr>
          <a:xfrm>
            <a:off x="2395067" y="3330141"/>
            <a:ext cx="894317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9B99595-9AF0-443D-B1A4-A468FC8349BE}"/>
              </a:ext>
            </a:extLst>
          </p:cNvPr>
          <p:cNvCxnSpPr>
            <a:cxnSpLocks/>
          </p:cNvCxnSpPr>
          <p:nvPr/>
        </p:nvCxnSpPr>
        <p:spPr>
          <a:xfrm>
            <a:off x="3819651" y="1409700"/>
            <a:ext cx="0" cy="4981575"/>
          </a:xfrm>
          <a:prstGeom prst="line">
            <a:avLst/>
          </a:prstGeom>
          <a:ln w="28575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2734E5A-804A-4186-B3A0-F579DAA406FB}"/>
              </a:ext>
            </a:extLst>
          </p:cNvPr>
          <p:cNvCxnSpPr>
            <a:cxnSpLocks/>
          </p:cNvCxnSpPr>
          <p:nvPr/>
        </p:nvCxnSpPr>
        <p:spPr>
          <a:xfrm>
            <a:off x="2395067" y="3131530"/>
            <a:ext cx="1424584" cy="0"/>
          </a:xfrm>
          <a:prstGeom prst="straightConnector1">
            <a:avLst/>
          </a:prstGeom>
          <a:ln w="28575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EBBDD17-64E1-42C0-842E-B42AE9326D4F}"/>
              </a:ext>
            </a:extLst>
          </p:cNvPr>
          <p:cNvSpPr txBox="1"/>
          <p:nvPr/>
        </p:nvSpPr>
        <p:spPr>
          <a:xfrm flipH="1">
            <a:off x="6486430" y="1519153"/>
            <a:ext cx="2712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Total System Emissions</a:t>
            </a:r>
            <a:endParaRPr lang="en-GB" sz="160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C1D6527-3905-448A-B48B-3FDBC8CB07B2}"/>
              </a:ext>
            </a:extLst>
          </p:cNvPr>
          <p:cNvCxnSpPr>
            <a:cxnSpLocks/>
          </p:cNvCxnSpPr>
          <p:nvPr/>
        </p:nvCxnSpPr>
        <p:spPr>
          <a:xfrm>
            <a:off x="7846775" y="1861817"/>
            <a:ext cx="0" cy="1335046"/>
          </a:xfrm>
          <a:prstGeom prst="line">
            <a:avLst/>
          </a:prstGeom>
          <a:ln w="28575">
            <a:solidFill>
              <a:schemeClr val="accent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EEE4DF3E-9D25-43EF-8A51-62C9580DA97C}"/>
              </a:ext>
            </a:extLst>
          </p:cNvPr>
          <p:cNvSpPr txBox="1"/>
          <p:nvPr/>
        </p:nvSpPr>
        <p:spPr>
          <a:xfrm rot="16200000">
            <a:off x="7113126" y="2519364"/>
            <a:ext cx="1149526" cy="338554"/>
          </a:xfrm>
          <a:prstGeom prst="rect">
            <a:avLst/>
          </a:prstGeom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GHG</a:t>
            </a:r>
            <a:endParaRPr lang="en-GB" sz="1600" dirty="0"/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A69948E-0829-4424-A66A-84FB4E053A64}"/>
              </a:ext>
            </a:extLst>
          </p:cNvPr>
          <p:cNvCxnSpPr>
            <a:cxnSpLocks/>
          </p:cNvCxnSpPr>
          <p:nvPr/>
        </p:nvCxnSpPr>
        <p:spPr>
          <a:xfrm flipV="1">
            <a:off x="3819651" y="2600394"/>
            <a:ext cx="4014249" cy="23234"/>
          </a:xfrm>
          <a:prstGeom prst="straightConnector1">
            <a:avLst/>
          </a:prstGeom>
          <a:ln w="28575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0BEB3014-7888-47F7-ACD0-34992C27B70B}"/>
              </a:ext>
            </a:extLst>
          </p:cNvPr>
          <p:cNvSpPr/>
          <p:nvPr/>
        </p:nvSpPr>
        <p:spPr>
          <a:xfrm>
            <a:off x="8040631" y="3889842"/>
            <a:ext cx="1750420" cy="494800"/>
          </a:xfrm>
          <a:prstGeom prst="rect">
            <a:avLst/>
          </a:pr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Technology a.</a:t>
            </a:r>
            <a:endParaRPr lang="en-GB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0BF3530-43D4-45AA-A9A8-B337D1EEC2AE}"/>
              </a:ext>
            </a:extLst>
          </p:cNvPr>
          <p:cNvSpPr/>
          <p:nvPr/>
        </p:nvSpPr>
        <p:spPr>
          <a:xfrm>
            <a:off x="8040631" y="4490406"/>
            <a:ext cx="1750420" cy="494800"/>
          </a:xfrm>
          <a:prstGeom prst="rect">
            <a:avLst/>
          </a:pr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Technology b.</a:t>
            </a:r>
            <a:endParaRPr lang="en-GB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B053519-3619-4308-925D-58AA9CAF0C7B}"/>
              </a:ext>
            </a:extLst>
          </p:cNvPr>
          <p:cNvSpPr/>
          <p:nvPr/>
        </p:nvSpPr>
        <p:spPr>
          <a:xfrm>
            <a:off x="8046513" y="5094406"/>
            <a:ext cx="1750420" cy="494800"/>
          </a:xfrm>
          <a:prstGeom prst="rect">
            <a:avLst/>
          </a:pr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Technology </a:t>
            </a:r>
            <a:r>
              <a:rPr lang="en-US" i="1" dirty="0"/>
              <a:t>n</a:t>
            </a:r>
            <a:r>
              <a:rPr lang="en-US" dirty="0"/>
              <a:t>.</a:t>
            </a:r>
            <a:endParaRPr lang="en-GB" dirty="0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057C4F6-F392-4AB6-883F-1CF82A7AFCF5}"/>
              </a:ext>
            </a:extLst>
          </p:cNvPr>
          <p:cNvCxnSpPr>
            <a:cxnSpLocks/>
            <a:endCxn id="82" idx="1"/>
          </p:cNvCxnSpPr>
          <p:nvPr/>
        </p:nvCxnSpPr>
        <p:spPr>
          <a:xfrm>
            <a:off x="6054924" y="4137242"/>
            <a:ext cx="1985707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75FFEFE-9DBC-4A86-9CE6-07EF470C5D00}"/>
              </a:ext>
            </a:extLst>
          </p:cNvPr>
          <p:cNvCxnSpPr>
            <a:cxnSpLocks/>
            <a:endCxn id="84" idx="1"/>
          </p:cNvCxnSpPr>
          <p:nvPr/>
        </p:nvCxnSpPr>
        <p:spPr>
          <a:xfrm>
            <a:off x="6704744" y="4737806"/>
            <a:ext cx="1335887" cy="0"/>
          </a:xfrm>
          <a:prstGeom prst="straightConnector1">
            <a:avLst/>
          </a:prstGeom>
          <a:ln w="28575">
            <a:solidFill>
              <a:srgbClr val="7F7F7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5E6ADBC-7723-4580-BB19-294742123C94}"/>
              </a:ext>
            </a:extLst>
          </p:cNvPr>
          <p:cNvCxnSpPr>
            <a:cxnSpLocks/>
          </p:cNvCxnSpPr>
          <p:nvPr/>
        </p:nvCxnSpPr>
        <p:spPr>
          <a:xfrm>
            <a:off x="7361108" y="5345014"/>
            <a:ext cx="679523" cy="0"/>
          </a:xfrm>
          <a:prstGeom prst="straightConnector1">
            <a:avLst/>
          </a:prstGeom>
          <a:ln w="28575">
            <a:solidFill>
              <a:srgbClr val="00589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25340AF-15B2-4BCE-A3FA-F963E8D4B5D8}"/>
              </a:ext>
            </a:extLst>
          </p:cNvPr>
          <p:cNvCxnSpPr>
            <a:cxnSpLocks/>
          </p:cNvCxnSpPr>
          <p:nvPr/>
        </p:nvCxnSpPr>
        <p:spPr>
          <a:xfrm>
            <a:off x="10474359" y="1983568"/>
            <a:ext cx="0" cy="3972569"/>
          </a:xfrm>
          <a:prstGeom prst="line">
            <a:avLst/>
          </a:prstGeom>
          <a:ln w="28575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C7C66491-409E-41DA-9AFF-7794B1B4BC7C}"/>
              </a:ext>
            </a:extLst>
          </p:cNvPr>
          <p:cNvCxnSpPr>
            <a:cxnSpLocks/>
          </p:cNvCxnSpPr>
          <p:nvPr/>
        </p:nvCxnSpPr>
        <p:spPr>
          <a:xfrm>
            <a:off x="9780620" y="4145621"/>
            <a:ext cx="683579" cy="0"/>
          </a:xfrm>
          <a:prstGeom prst="straightConnector1">
            <a:avLst/>
          </a:prstGeom>
          <a:ln w="28575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2743F2BE-379C-44B6-9AC6-68A6677D447C}"/>
              </a:ext>
            </a:extLst>
          </p:cNvPr>
          <p:cNvCxnSpPr>
            <a:cxnSpLocks/>
          </p:cNvCxnSpPr>
          <p:nvPr/>
        </p:nvCxnSpPr>
        <p:spPr>
          <a:xfrm>
            <a:off x="9780620" y="4739566"/>
            <a:ext cx="683579" cy="0"/>
          </a:xfrm>
          <a:prstGeom prst="straightConnector1">
            <a:avLst/>
          </a:prstGeom>
          <a:ln w="28575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015EA04F-07ED-4BCA-839F-62CF74CBD769}"/>
              </a:ext>
            </a:extLst>
          </p:cNvPr>
          <p:cNvCxnSpPr>
            <a:cxnSpLocks/>
          </p:cNvCxnSpPr>
          <p:nvPr/>
        </p:nvCxnSpPr>
        <p:spPr>
          <a:xfrm>
            <a:off x="9780620" y="5350185"/>
            <a:ext cx="683579" cy="0"/>
          </a:xfrm>
          <a:prstGeom prst="straightConnector1">
            <a:avLst/>
          </a:prstGeom>
          <a:ln w="28575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B40359C4-A44E-4ED4-87B9-DC8A1211BBE9}"/>
              </a:ext>
            </a:extLst>
          </p:cNvPr>
          <p:cNvCxnSpPr>
            <a:cxnSpLocks/>
          </p:cNvCxnSpPr>
          <p:nvPr/>
        </p:nvCxnSpPr>
        <p:spPr>
          <a:xfrm flipH="1">
            <a:off x="7846775" y="2599213"/>
            <a:ext cx="2627585" cy="0"/>
          </a:xfrm>
          <a:prstGeom prst="straightConnector1">
            <a:avLst/>
          </a:prstGeom>
          <a:ln w="28575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87D2E2B8-6A95-4F9C-86C4-82DEB791002D}"/>
              </a:ext>
            </a:extLst>
          </p:cNvPr>
          <p:cNvSpPr txBox="1"/>
          <p:nvPr/>
        </p:nvSpPr>
        <p:spPr>
          <a:xfrm rot="16200000" flipH="1">
            <a:off x="9591292" y="4483133"/>
            <a:ext cx="236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Energy-system GHG emissions</a:t>
            </a:r>
            <a:endParaRPr lang="en-GB" sz="1600" dirty="0"/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F5EEDD02-B0C2-49D1-8D80-0336A2DC204E}"/>
              </a:ext>
            </a:extLst>
          </p:cNvPr>
          <p:cNvSpPr/>
          <p:nvPr/>
        </p:nvSpPr>
        <p:spPr>
          <a:xfrm>
            <a:off x="155352" y="1410666"/>
            <a:ext cx="2718601" cy="4981575"/>
          </a:xfrm>
          <a:prstGeom prst="roundRect">
            <a:avLst>
              <a:gd name="adj" fmla="val 1944"/>
            </a:avLst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CBF4D46-F69C-476B-9F0D-2610284D0C22}"/>
              </a:ext>
            </a:extLst>
          </p:cNvPr>
          <p:cNvCxnSpPr>
            <a:cxnSpLocks/>
          </p:cNvCxnSpPr>
          <p:nvPr/>
        </p:nvCxnSpPr>
        <p:spPr>
          <a:xfrm>
            <a:off x="2395067" y="4465966"/>
            <a:ext cx="894317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3C7B218-A920-42BC-B13B-300825C7E807}"/>
              </a:ext>
            </a:extLst>
          </p:cNvPr>
          <p:cNvCxnSpPr>
            <a:cxnSpLocks/>
          </p:cNvCxnSpPr>
          <p:nvPr/>
        </p:nvCxnSpPr>
        <p:spPr>
          <a:xfrm>
            <a:off x="2395067" y="1948499"/>
            <a:ext cx="894317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D6451D6-A829-49A5-BCFA-75772587B4A4}"/>
              </a:ext>
            </a:extLst>
          </p:cNvPr>
          <p:cNvCxnSpPr>
            <a:cxnSpLocks/>
          </p:cNvCxnSpPr>
          <p:nvPr/>
        </p:nvCxnSpPr>
        <p:spPr>
          <a:xfrm>
            <a:off x="2395067" y="1749888"/>
            <a:ext cx="1424584" cy="0"/>
          </a:xfrm>
          <a:prstGeom prst="straightConnector1">
            <a:avLst/>
          </a:prstGeom>
          <a:ln w="28575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1A299B0-EDCD-46D6-8A28-64CE9DC72991}"/>
              </a:ext>
            </a:extLst>
          </p:cNvPr>
          <p:cNvSpPr/>
          <p:nvPr/>
        </p:nvSpPr>
        <p:spPr>
          <a:xfrm>
            <a:off x="654501" y="1515971"/>
            <a:ext cx="1740896" cy="9250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Land-Use</a:t>
            </a:r>
          </a:p>
          <a:p>
            <a:pPr algn="ctr"/>
            <a:r>
              <a:rPr lang="en-US" dirty="0"/>
              <a:t>Pathway</a:t>
            </a:r>
          </a:p>
          <a:p>
            <a:pPr algn="ctr"/>
            <a:r>
              <a:rPr lang="en-US" dirty="0"/>
              <a:t>BIO00GHG000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85AB0F-6F85-48DF-8639-E8A21938B010}"/>
              </a:ext>
            </a:extLst>
          </p:cNvPr>
          <p:cNvSpPr/>
          <p:nvPr/>
        </p:nvSpPr>
        <p:spPr>
          <a:xfrm>
            <a:off x="654670" y="2794946"/>
            <a:ext cx="1740896" cy="9250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Land-Use</a:t>
            </a:r>
          </a:p>
          <a:p>
            <a:pPr algn="ctr"/>
            <a:r>
              <a:rPr lang="en-US" dirty="0"/>
              <a:t>Pathway</a:t>
            </a:r>
          </a:p>
          <a:p>
            <a:pPr algn="ctr"/>
            <a:r>
              <a:rPr lang="en-US" dirty="0"/>
              <a:t>BIO..GHG…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FE9992-EC04-4B0F-9B2F-0C73C7361F2C}"/>
              </a:ext>
            </a:extLst>
          </p:cNvPr>
          <p:cNvSpPr/>
          <p:nvPr/>
        </p:nvSpPr>
        <p:spPr>
          <a:xfrm>
            <a:off x="654171" y="4159341"/>
            <a:ext cx="1740896" cy="9250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Land-Use</a:t>
            </a:r>
          </a:p>
          <a:p>
            <a:pPr algn="ctr"/>
            <a:r>
              <a:rPr lang="en-US" dirty="0"/>
              <a:t>Pathway</a:t>
            </a:r>
          </a:p>
          <a:p>
            <a:pPr algn="ctr"/>
            <a:r>
              <a:rPr lang="en-US" dirty="0"/>
              <a:t>BIO60GHG3000</a:t>
            </a:r>
            <a:endParaRPr lang="en-GB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A143981-5C57-4C53-A7BA-405B3561C50A}"/>
              </a:ext>
            </a:extLst>
          </p:cNvPr>
          <p:cNvSpPr txBox="1"/>
          <p:nvPr/>
        </p:nvSpPr>
        <p:spPr>
          <a:xfrm rot="16200000" flipH="1">
            <a:off x="2903985" y="5383798"/>
            <a:ext cx="16192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Land-use emissions</a:t>
            </a:r>
            <a:endParaRPr lang="en-GB" sz="16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F618451-3781-49F1-8038-FB1065A5FC85}"/>
              </a:ext>
            </a:extLst>
          </p:cNvPr>
          <p:cNvSpPr/>
          <p:nvPr/>
        </p:nvSpPr>
        <p:spPr>
          <a:xfrm>
            <a:off x="4377408" y="4649059"/>
            <a:ext cx="1312817" cy="627633"/>
          </a:xfrm>
          <a:prstGeom prst="rect">
            <a:avLst/>
          </a:prstGeom>
          <a:solidFill>
            <a:srgbClr val="7F7F7F"/>
          </a:solidFill>
          <a:ln>
            <a:solidFill>
              <a:srgbClr val="7F7F7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coal resource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1500" y="5334000"/>
            <a:ext cx="2476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04040"/>
                </a:solidFill>
              </a:rPr>
              <a:t>Land-use emulator</a:t>
            </a:r>
          </a:p>
          <a:p>
            <a:r>
              <a:rPr sz="1400" i="1">
                <a:solidFill>
                  <a:srgbClr val="404040"/>
                </a:solidFill>
              </a:rPr>
              <a:t>(GLOBIOM matrix)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152900" y="1447800"/>
            <a:ext cx="2857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04040"/>
                </a:solidFill>
              </a:rPr>
              <a:t>Energy system (MESSAGEix)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143000" y="1028700"/>
            <a:ext cx="4572000" cy="0"/>
          </a:xfrm>
          <a:prstGeom prst="line">
            <a:avLst/>
          </a:prstGeom>
          <a:ln w="28575">
            <a:solidFill>
              <a:srgbClr val="7030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524000" y="1047750"/>
            <a:ext cx="0" cy="361950"/>
          </a:xfrm>
          <a:prstGeom prst="line">
            <a:avLst/>
          </a:prstGeom>
          <a:ln w="28575">
            <a:solidFill>
              <a:srgbClr val="7030A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5334000" y="1047750"/>
            <a:ext cx="0" cy="361950"/>
          </a:xfrm>
          <a:prstGeom prst="line">
            <a:avLst/>
          </a:prstGeom>
          <a:ln w="28575">
            <a:solidFill>
              <a:srgbClr val="7030A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2857500" y="685800"/>
            <a:ext cx="2095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0"/>
              <a:t>Total System Cost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8921723" y="5589206"/>
            <a:ext cx="0" cy="983044"/>
          </a:xfrm>
          <a:prstGeom prst="line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400050" y="6572250"/>
            <a:ext cx="8521673" cy="0"/>
          </a:xfrm>
          <a:prstGeom prst="line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400050" y="1905000"/>
            <a:ext cx="0" cy="4667250"/>
          </a:xfrm>
          <a:prstGeom prst="line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400050" y="1978519"/>
            <a:ext cx="254451" cy="0"/>
          </a:xfrm>
          <a:prstGeom prst="line">
            <a:avLst/>
          </a:prstGeom>
          <a:ln w="28575">
            <a:solidFill>
              <a:srgbClr val="ED7D3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00050" y="3257493"/>
            <a:ext cx="254620" cy="0"/>
          </a:xfrm>
          <a:prstGeom prst="line">
            <a:avLst/>
          </a:prstGeom>
          <a:ln w="28575">
            <a:solidFill>
              <a:srgbClr val="ED7D3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400050" y="4621889"/>
            <a:ext cx="254121" cy="0"/>
          </a:xfrm>
          <a:prstGeom prst="line">
            <a:avLst/>
          </a:prstGeom>
          <a:ln w="28575">
            <a:solidFill>
              <a:srgbClr val="ED7D3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4152900" y="6591300"/>
            <a:ext cx="4000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0">
                <a:solidFill>
                  <a:srgbClr val="ED7D31"/>
                </a:solidFill>
              </a:rPr>
              <a:t>Land-use inputs, e.g. N fertilizer, agricultural energy</a:t>
            </a:r>
          </a:p>
        </p:txBody>
      </p:sp>
    </p:spTree>
    <p:extLst>
      <p:ext uri="{BB962C8B-B14F-4D97-AF65-F5344CB8AC3E}">
        <p14:creationId xmlns:p14="http://schemas.microsoft.com/office/powerpoint/2010/main" val="1473504979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IIASA color">
      <a:dk1>
        <a:sysClr val="windowText" lastClr="000000"/>
      </a:dk1>
      <a:lt1>
        <a:sysClr val="window" lastClr="FFFFFF"/>
      </a:lt1>
      <a:dk2>
        <a:srgbClr val="00599D"/>
      </a:dk2>
      <a:lt2>
        <a:srgbClr val="E7E6E6"/>
      </a:lt2>
      <a:accent1>
        <a:srgbClr val="00599D"/>
      </a:accent1>
      <a:accent2>
        <a:srgbClr val="09C6C0"/>
      </a:accent2>
      <a:accent3>
        <a:srgbClr val="24806E"/>
      </a:accent3>
      <a:accent4>
        <a:srgbClr val="FDBB40"/>
      </a:accent4>
      <a:accent5>
        <a:srgbClr val="EF6A6B"/>
      </a:accent5>
      <a:accent6>
        <a:srgbClr val="6A4C93"/>
      </a:accent6>
      <a:hlink>
        <a:srgbClr val="00599D"/>
      </a:hlink>
      <a:folHlink>
        <a:srgbClr val="6A4C9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iasa_dh_template_169.potx" id="{B0F2967E-95CF-4A90-A977-E2D4C086E551}" vid="{52282615-B4D3-44AA-90D7-B3345FBAD180}"/>
    </a:ext>
  </a:extLst>
</a:theme>
</file>

<file path=ppt/theme/theme2.xml><?xml version="1.0" encoding="utf-8"?>
<a:theme xmlns:a="http://schemas.openxmlformats.org/drawingml/2006/main" name="Content">
  <a:themeElements>
    <a:clrScheme name="IIASA color">
      <a:dk1>
        <a:sysClr val="windowText" lastClr="000000"/>
      </a:dk1>
      <a:lt1>
        <a:sysClr val="window" lastClr="FFFFFF"/>
      </a:lt1>
      <a:dk2>
        <a:srgbClr val="00599D"/>
      </a:dk2>
      <a:lt2>
        <a:srgbClr val="E7E6E6"/>
      </a:lt2>
      <a:accent1>
        <a:srgbClr val="00599D"/>
      </a:accent1>
      <a:accent2>
        <a:srgbClr val="09C6C0"/>
      </a:accent2>
      <a:accent3>
        <a:srgbClr val="24806E"/>
      </a:accent3>
      <a:accent4>
        <a:srgbClr val="FDBB40"/>
      </a:accent4>
      <a:accent5>
        <a:srgbClr val="EF6A6B"/>
      </a:accent5>
      <a:accent6>
        <a:srgbClr val="6A4C93"/>
      </a:accent6>
      <a:hlink>
        <a:srgbClr val="00599D"/>
      </a:hlink>
      <a:folHlink>
        <a:srgbClr val="6A4C9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iasa_dh_template_169.potx" id="{B0F2967E-95CF-4A90-A977-E2D4C086E551}" vid="{C19DDA07-5643-42C0-95C1-F793A2A292E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6C0CC2C1BBF24EAF6B3D15882DAE61" ma:contentTypeVersion="9" ma:contentTypeDescription="Create a new document." ma:contentTypeScope="" ma:versionID="d7d442aded1f32970ca7b5881ad565e0">
  <xsd:schema xmlns:xsd="http://www.w3.org/2001/XMLSchema" xmlns:xs="http://www.w3.org/2001/XMLSchema" xmlns:p="http://schemas.microsoft.com/office/2006/metadata/properties" xmlns:ns2="767a3297-cb3c-49cb-bb81-4accf9a9be2f" xmlns:ns3="4338dd45-1272-44e4-8715-b442259e15fd" targetNamespace="http://schemas.microsoft.com/office/2006/metadata/properties" ma:root="true" ma:fieldsID="efdb64e9efef0c44a9d2235c675f250d" ns2:_="" ns3:_="">
    <xsd:import namespace="767a3297-cb3c-49cb-bb81-4accf9a9be2f"/>
    <xsd:import namespace="4338dd45-1272-44e4-8715-b442259e15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a3297-cb3c-49cb-bb81-4accf9a9be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38dd45-1272-44e4-8715-b442259e15f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DBFC3E-F1C5-4547-9A66-15BCDB336D7F}">
  <ds:schemaRefs>
    <ds:schemaRef ds:uri="4338dd45-1272-44e4-8715-b442259e15fd"/>
    <ds:schemaRef ds:uri="767a3297-cb3c-49cb-bb81-4accf9a9be2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AD93C57-A7ED-44E6-88BF-DA3984EE19E6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4338dd45-1272-44e4-8715-b442259e15fd"/>
    <ds:schemaRef ds:uri="767a3297-cb3c-49cb-bb81-4accf9a9be2f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E794EA7-8E28-4624-885F-9EF05194D2E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16644</TotalTime>
  <Words>44</Words>
  <Application>Microsoft Office PowerPoint</Application>
  <PresentationFormat>Widescreen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Cambria</vt:lpstr>
      <vt:lpstr>Tahoma</vt:lpstr>
      <vt:lpstr>Title slide</vt:lpstr>
      <vt:lpstr>Content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 constraint formulation</dc:title>
  <dc:creator>FRICKO Oliver</dc:creator>
  <cp:lastModifiedBy>FRICKO Oliver</cp:lastModifiedBy>
  <cp:revision>65</cp:revision>
  <dcterms:created xsi:type="dcterms:W3CDTF">2020-09-04T08:06:38Z</dcterms:created>
  <dcterms:modified xsi:type="dcterms:W3CDTF">2021-04-22T15:05:33Z</dcterms:modified>
</cp:coreProperties>
</file>